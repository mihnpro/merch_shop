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31"/>
  </p:normalViewPr>
  <p:slideViewPr>
    <p:cSldViewPr snapToGrid="0" snapToObjects="1">
      <p:cViewPr>
        <p:scale>
          <a:sx n="96" d="100"/>
          <a:sy n="96" d="100"/>
        </p:scale>
        <p:origin x="1352" y="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00600" y="0"/>
            <a:ext cx="91440" cy="68580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566160" y="-1005840"/>
            <a:ext cx="2194560" cy="2194560"/>
          </a:xfrm>
          <a:prstGeom prst="ellipse">
            <a:avLst/>
          </a:prstGeom>
          <a:solidFill>
            <a:srgbClr val="2B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402336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Merch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BFD3FF"/>
                </a:solidFill>
                <a:latin typeface="Calibri"/>
              </a:rPr>
              <a:t>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3977639"/>
            <a:ext cx="548640" cy="914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206240"/>
            <a:ext cx="38404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7E2FF"/>
                </a:solidFill>
                <a:latin typeface="Calibri"/>
              </a:rPr>
              <a:t>Корпоративный магазин мерча
за внутренние баллы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286000"/>
            <a:ext cx="621792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000" b="0" i="0" dirty="0">
                <a:solidFill>
                  <a:srgbClr val="1E2A3A"/>
                </a:solidFill>
                <a:latin typeface="Calibri"/>
              </a:rPr>
              <a:t>Сотрудники сами заказывают </a:t>
            </a:r>
            <a:r>
              <a:rPr lang="ru-RU" sz="2000" b="0" i="0" dirty="0" err="1">
                <a:solidFill>
                  <a:srgbClr val="1E2A3A"/>
                </a:solidFill>
                <a:latin typeface="Calibri"/>
              </a:rPr>
              <a:t>мерч</a:t>
            </a:r>
            <a:r>
              <a:rPr lang="ru-RU" sz="2000" b="0" i="0" dirty="0">
                <a:solidFill>
                  <a:srgbClr val="1E2A3A"/>
                </a:solidFill>
                <a:latin typeface="Calibri"/>
              </a:rPr>
              <a:t> за баллы, </a:t>
            </a:r>
            <a:r>
              <a:rPr lang="ru-RU" sz="2000" b="1" i="0" dirty="0">
                <a:solidFill>
                  <a:srgbClr val="1E2A3A"/>
                </a:solidFill>
                <a:latin typeface="Calibri"/>
              </a:rPr>
              <a:t>а </a:t>
            </a:r>
            <a:r>
              <a:rPr lang="en" sz="2000" b="1" i="0" dirty="0">
                <a:solidFill>
                  <a:srgbClr val="1E2A3A"/>
                </a:solidFill>
                <a:latin typeface="Calibri"/>
              </a:rPr>
              <a:t>HR </a:t>
            </a:r>
            <a:r>
              <a:rPr lang="ru-RU" sz="2000" b="1" i="0" dirty="0">
                <a:solidFill>
                  <a:srgbClr val="1E2A3A"/>
                </a:solidFill>
                <a:latin typeface="Calibri"/>
              </a:rPr>
              <a:t>управляет каталогом, складом и баллами</a:t>
            </a:r>
            <a:r>
              <a:rPr lang="ru-RU" sz="2000" b="0" i="0" dirty="0">
                <a:solidFill>
                  <a:srgbClr val="1E2A3A"/>
                </a:solidFill>
                <a:latin typeface="Calibri"/>
              </a:rPr>
              <a:t> — без переписки и таблиц.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4069080"/>
            <a:ext cx="502920" cy="548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4297680"/>
            <a:ext cx="6217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785"/>
                </a:solidFill>
                <a:latin typeface="Calibri"/>
              </a:rPr>
              <a:t>7 микросервисов</a:t>
            </a:r>
            <a:r>
              <a:rPr sz="1300" b="0" i="0">
                <a:solidFill>
                  <a:srgbClr val="6B7785"/>
                </a:solidFill>
                <a:latin typeface="Calibri"/>
              </a:rPr>
              <a:t>      Go + React      gRPC · Kafka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785"/>
                </a:solidFill>
                <a:latin typeface="Calibri"/>
              </a:rPr>
              <a:t>Как покупка мерча устроена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578608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2212848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Сотрудник пишет HR
в мессенджере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94560"/>
            <a:ext cx="32918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6B778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874519"/>
            <a:ext cx="2578608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2736" y="1993392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395728"/>
            <a:ext cx="2212848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HR вручную сверяется
со складом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9" y="2194560"/>
            <a:ext cx="32918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6B7785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5" y="1874519"/>
            <a:ext cx="2578608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3" y="1993392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3" y="2395728"/>
            <a:ext cx="2212848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Нужного размера
уже 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194560"/>
            <a:ext cx="32918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6B7785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874519"/>
            <a:ext cx="2578608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1993392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395728"/>
            <a:ext cx="2212848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Списание баллов —
в таблице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3A"/>
                </a:solidFill>
                <a:latin typeface="Calibri"/>
              </a:rPr>
              <a:t>К чему это приводит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2706624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2706624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160520"/>
            <a:ext cx="234086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3A"/>
                </a:solidFill>
                <a:latin typeface="Calibri"/>
              </a:rPr>
              <a:t>Часы на переписку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54880"/>
            <a:ext cx="2340864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HR занят рутиной вместо работы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4136" y="3886200"/>
            <a:ext cx="2706624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74136" y="3886200"/>
            <a:ext cx="2706624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75304" y="4160520"/>
            <a:ext cx="234086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3A"/>
                </a:solidFill>
                <a:latin typeface="Calibri"/>
              </a:rPr>
              <a:t>Расхождения учёта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4754880"/>
            <a:ext cx="2340864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Баллы и склад в Excel не сходятся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1" y="3886200"/>
            <a:ext cx="2706624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9631" y="3886200"/>
            <a:ext cx="2706624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799" y="4160520"/>
            <a:ext cx="234086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3A"/>
                </a:solidFill>
                <a:latin typeface="Calibri"/>
              </a:rPr>
              <a:t>Демотивация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9" y="4754880"/>
            <a:ext cx="2340864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Непонятно, на что потратить баллы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5128" y="3886200"/>
            <a:ext cx="2706624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25128" y="3886200"/>
            <a:ext cx="2706624" cy="914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26296" y="4160520"/>
            <a:ext cx="2340864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3A"/>
                </a:solidFill>
                <a:latin typeface="Calibri"/>
              </a:rPr>
              <a:t>Нет аналитики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4754880"/>
            <a:ext cx="2340864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Не видно, что популярно и сколько потрачено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785"/>
                </a:solidFill>
                <a:latin typeface="Calibri"/>
              </a:rPr>
              <a:t>Магазин самообслуживания вместо ручной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92807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64545"/>
                </a:solidFill>
                <a:latin typeface="Calibri"/>
              </a:rPr>
              <a:t>Было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92807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Стало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2743200" cy="713232"/>
          </a:xfrm>
          <a:prstGeom prst="roundRect">
            <a:avLst>
              <a:gd name="adj" fmla="val 55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2331720"/>
            <a:ext cx="3977639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60" y="2331720"/>
            <a:ext cx="4160520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331720"/>
            <a:ext cx="246888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Поиск товара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3703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Переписка с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31720"/>
            <a:ext cx="3886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1E2A3A"/>
                </a:solidFill>
                <a:latin typeface="Calibri"/>
              </a:rPr>
              <a:t>Каталог с поиском и фильтрами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2743200" cy="713232"/>
          </a:xfrm>
          <a:prstGeom prst="roundRect">
            <a:avLst>
              <a:gd name="adj" fmla="val 55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83280" y="3099815"/>
            <a:ext cx="3977639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52360" y="3099815"/>
            <a:ext cx="41605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099815"/>
            <a:ext cx="246888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Наличие и размеры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99815"/>
            <a:ext cx="3703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Сверка вручную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99815"/>
            <a:ext cx="3886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1E2A3A"/>
                </a:solidFill>
                <a:latin typeface="Calibri"/>
              </a:rPr>
              <a:t>Видно в реальном времени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67912"/>
            <a:ext cx="2743200" cy="713232"/>
          </a:xfrm>
          <a:prstGeom prst="roundRect">
            <a:avLst>
              <a:gd name="adj" fmla="val 55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83280" y="3867912"/>
            <a:ext cx="3977639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52360" y="3867912"/>
            <a:ext cx="4160520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867912"/>
            <a:ext cx="246888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Оформление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67912"/>
            <a:ext cx="3703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Долгая переписка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867912"/>
            <a:ext cx="3886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1E2A3A"/>
                </a:solidFill>
                <a:latin typeface="Calibri"/>
              </a:rPr>
              <a:t>Заказ за минуту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36008"/>
            <a:ext cx="2743200" cy="713232"/>
          </a:xfrm>
          <a:prstGeom prst="roundRect">
            <a:avLst>
              <a:gd name="adj" fmla="val 55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83280" y="4636008"/>
            <a:ext cx="3977639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52360" y="4636008"/>
            <a:ext cx="41605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636008"/>
            <a:ext cx="246888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Учёт баллов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36008"/>
            <a:ext cx="3703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Таблица 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636008"/>
            <a:ext cx="3886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1E2A3A"/>
                </a:solidFill>
                <a:latin typeface="Calibri"/>
              </a:rPr>
              <a:t>Автоматически, с историей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04104"/>
            <a:ext cx="2743200" cy="713232"/>
          </a:xfrm>
          <a:prstGeom prst="roundRect">
            <a:avLst>
              <a:gd name="adj" fmla="val 55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383280" y="5404104"/>
            <a:ext cx="3977639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52360" y="5404104"/>
            <a:ext cx="4160520" cy="713232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404104"/>
            <a:ext cx="246888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Роль HR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404104"/>
            <a:ext cx="3703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Ручные сверки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5404104"/>
            <a:ext cx="3886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1E2A3A"/>
                </a:solidFill>
                <a:latin typeface="Calibri"/>
              </a:rPr>
              <a:t>Готовый список заказов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Две 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09728" cy="429768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E2A3A"/>
                </a:solidFill>
                <a:latin typeface="Calibri"/>
              </a:rPr>
              <a:t>Сотрудник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B5BDB"/>
                </a:solidFill>
                <a:latin typeface="Calibri"/>
              </a:rPr>
              <a:t>Тратит баллы на мерч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84632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Каталог с поиском и фильтрами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Корзина с проверкой наличия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Заказ за минуту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Личный баланс и история операций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109728" cy="42976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E2A3A"/>
                </a:solidFill>
                <a:latin typeface="Calibri"/>
              </a:rPr>
              <a:t>HR / Администратор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678"/>
                </a:solidFill>
                <a:latin typeface="Calibri"/>
              </a:rPr>
              <a:t>Управляет магазином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08960"/>
            <a:ext cx="484632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CA678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Каталог, категории и склад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CA678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Начисление баллов сотрудникам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CA678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Обработка заказов и статусы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CA678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Пользователи, роли, аналитика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800" b="1" i="0" dirty="0">
                <a:solidFill>
                  <a:srgbClr val="1E2A3A"/>
                </a:solidFill>
                <a:latin typeface="Calibri"/>
              </a:rPr>
              <a:t>Каталог и 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75488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Витрина товаров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Поиск по названию, фильтр по категориям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Карточка товара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Фото, описание, цена в баллах, размеры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Корзина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Добавление с проверкой наличия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Итоговая стоимость в баллах</a:t>
            </a:r>
          </a:p>
        </p:txBody>
      </p:sp>
      <p:sp>
        <p:nvSpPr>
          <p:cNvPr id="10" name="Oval 9"/>
          <p:cNvSpPr/>
          <p:nvPr/>
        </p:nvSpPr>
        <p:spPr>
          <a:xfrm>
            <a:off x="8394192" y="3364991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95360" y="3511296"/>
            <a:ext cx="201168" cy="237744"/>
          </a:xfrm>
          <a:prstGeom prst="triangl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4096511"/>
            <a:ext cx="5852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1E2A3A"/>
                </a:solidFill>
                <a:latin typeface="Calibri"/>
              </a:rPr>
              <a:t>демонстрация</a:t>
            </a:r>
            <a:endParaRPr sz="1300" b="1" i="0" dirty="0">
              <a:solidFill>
                <a:srgbClr val="1E2A3A"/>
              </a:solidFill>
              <a:latin typeface="Calibri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6B7785"/>
                </a:solidFill>
                <a:latin typeface="Calibri"/>
              </a:rPr>
              <a:t>каталог</a:t>
            </a:r>
            <a:r>
              <a:rPr sz="1100" b="0" i="0" dirty="0">
                <a:solidFill>
                  <a:srgbClr val="6B778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B7785"/>
                </a:solidFill>
                <a:latin typeface="Calibri"/>
              </a:rPr>
              <a:t>и</a:t>
            </a:r>
            <a:r>
              <a:rPr sz="1100" b="0" i="0" dirty="0">
                <a:solidFill>
                  <a:srgbClr val="6B778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B7785"/>
                </a:solidFill>
                <a:latin typeface="Calibri"/>
              </a:rPr>
              <a:t>корзина</a:t>
            </a:r>
            <a:endParaRPr sz="1100" b="0" i="0" dirty="0">
              <a:solidFill>
                <a:srgbClr val="6B7785"/>
              </a:solidFill>
              <a:latin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25990A6-EC1C-8B8B-7075-B9015B183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365" y="1707545"/>
            <a:ext cx="7138290" cy="4046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Оформление заказа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937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3A"/>
                </a:solidFill>
                <a:latin typeface="Calibri"/>
              </a:rPr>
              <a:t>Заказ за минуту: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429768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A3A"/>
                </a:solidFill>
                <a:latin typeface="Calibri"/>
              </a:rPr>
              <a:t>Проверка баланса баллов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27248"/>
            <a:ext cx="420624" cy="42062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420624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8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A3A"/>
                </a:solidFill>
                <a:latin typeface="Calibri"/>
              </a:rPr>
              <a:t>Списание без двойного списания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77056"/>
            <a:ext cx="429768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A3A"/>
                </a:solidFill>
                <a:latin typeface="Calibri"/>
              </a:rPr>
              <a:t>Создание заказа, очистка корзины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26864"/>
            <a:ext cx="420624" cy="42062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626864"/>
            <a:ext cx="420624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26864"/>
            <a:ext cx="429768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A3A"/>
                </a:solidFill>
                <a:latin typeface="Calibri"/>
              </a:rPr>
              <a:t>Заказ сразу в личном кабинете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828800"/>
            <a:ext cx="5852160" cy="42062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94192" y="3364991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8595360" y="3511296"/>
            <a:ext cx="201168" cy="237744"/>
          </a:xfrm>
          <a:prstGeom prst="triangl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4096511"/>
            <a:ext cx="5852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1E2A3A"/>
                </a:solidFill>
                <a:latin typeface="Calibri"/>
              </a:rPr>
              <a:t>демонстрация</a:t>
            </a:r>
            <a:endParaRPr sz="1300" b="1" i="0" dirty="0">
              <a:solidFill>
                <a:srgbClr val="1E2A3A"/>
              </a:solidFill>
              <a:latin typeface="Calibri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6B7785"/>
                </a:solidFill>
                <a:latin typeface="Calibri"/>
              </a:rPr>
              <a:t>оформление</a:t>
            </a:r>
            <a:r>
              <a:rPr sz="1100" b="0" i="0" dirty="0">
                <a:solidFill>
                  <a:srgbClr val="6B778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B7785"/>
                </a:solidFill>
                <a:latin typeface="Calibri"/>
              </a:rPr>
              <a:t>заказа</a:t>
            </a:r>
            <a:endParaRPr sz="1100" b="0" i="0" dirty="0">
              <a:solidFill>
                <a:srgbClr val="6B7785"/>
              </a:solidFill>
              <a:latin typeface="Calibri"/>
            </a:endParaRPr>
          </a:p>
        </p:txBody>
      </p:sp>
      <p:pic>
        <p:nvPicPr>
          <p:cNvPr id="26" name="Рисунок 25" descr="Изображение выглядит как текст, снимок экрана, программное обеспечение, Операционная систе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FF9A558-32BB-F2D2-3F2D-8CC7E42FC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657" y="1673791"/>
            <a:ext cx="7068998" cy="4361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Жизненный цикл заказа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785"/>
                </a:solidFill>
                <a:latin typeface="Calibri"/>
              </a:rPr>
              <a:t>Заказ движется по чётким статусам — недопустимые переходы запрещены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3317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317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3A"/>
                </a:solidFill>
                <a:latin typeface="Calibri"/>
              </a:rPr>
              <a:t>Создан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26664" y="2752344"/>
            <a:ext cx="457200" cy="256032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38728" y="2423160"/>
            <a:ext cx="23317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2423160"/>
            <a:ext cx="23317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3A"/>
                </a:solidFill>
                <a:latin typeface="Calibri"/>
              </a:rPr>
              <a:t>Подтверждён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2752344"/>
            <a:ext cx="457200" cy="256032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7376" y="2423160"/>
            <a:ext cx="23317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423160"/>
            <a:ext cx="23317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3A"/>
                </a:solidFill>
                <a:latin typeface="Calibri"/>
              </a:rPr>
              <a:t>Готов к выдаче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23960" y="2752344"/>
            <a:ext cx="457200" cy="256032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36024" y="2423160"/>
            <a:ext cx="23317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0CA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36024" y="2423160"/>
            <a:ext cx="23317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3A"/>
                </a:solidFill>
                <a:latin typeface="Calibri"/>
              </a:rPr>
              <a:t>Выдан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2331720" cy="868680"/>
          </a:xfrm>
          <a:prstGeom prst="roundRect">
            <a:avLst>
              <a:gd name="adj" fmla="val 5500"/>
            </a:avLst>
          </a:prstGeom>
          <a:solidFill>
            <a:srgbClr val="FBEEEE"/>
          </a:solidFill>
          <a:ln w="1905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3317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Calibri"/>
              </a:rPr>
              <a:t>Отменён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069080"/>
            <a:ext cx="786384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С любого этапа, кроме «Выдан».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7785"/>
                </a:solidFill>
                <a:latin typeface="Calibri"/>
              </a:rPr>
              <a:t>Баллы возвращаются, резерв склада снимается автоматически.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Админ-панель для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01952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Каталог и категории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2848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товары и разделы магазина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96896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670048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Склад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980944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корректировка остатков с причиной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64991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64991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438144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Баллы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49039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начисление сотрудникам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33087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133087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206240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Заказы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17136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обработка и смена статусов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01183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901183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974336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Пользователи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285231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блокировка, роли, сброс пароля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69280"/>
            <a:ext cx="5074920" cy="658368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73152" cy="65836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5742432"/>
            <a:ext cx="461772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3A"/>
                </a:solidFill>
                <a:latin typeface="Calibri"/>
              </a:rPr>
              <a:t>Аналитика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6053328"/>
            <a:ext cx="4617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топ-товары, расход баллов</a:t>
            </a:r>
          </a:p>
        </p:txBody>
      </p:sp>
      <p:sp>
        <p:nvSpPr>
          <p:cNvPr id="33" name="Oval 32"/>
          <p:cNvSpPr/>
          <p:nvPr/>
        </p:nvSpPr>
        <p:spPr>
          <a:xfrm>
            <a:off x="8508492" y="3300984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/>
          <p:cNvSpPr/>
          <p:nvPr/>
        </p:nvSpPr>
        <p:spPr>
          <a:xfrm rot="5400000">
            <a:off x="8709660" y="3447288"/>
            <a:ext cx="201168" cy="237744"/>
          </a:xfrm>
          <a:prstGeom prst="triangl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4032504"/>
            <a:ext cx="56235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демонстрация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785"/>
                </a:solidFill>
                <a:latin typeface="Calibri"/>
              </a:rPr>
              <a:t>админ-панель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77E7D7-EC20-F644-634C-3B9D06A2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740" y="2083840"/>
            <a:ext cx="6297070" cy="4042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Что это даёт бизнесу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706624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2706624" cy="91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41448"/>
            <a:ext cx="228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1 минута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72968"/>
            <a:ext cx="2286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на заказ вместо переписки с 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148840"/>
            <a:ext cx="2706624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2148840"/>
            <a:ext cx="2706624" cy="914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1" y="2441448"/>
            <a:ext cx="228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CA678"/>
                </a:solidFill>
                <a:latin typeface="Calibri"/>
              </a:rPr>
              <a:t>Точный учёт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3172968"/>
            <a:ext cx="2286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баллов — без расхождений в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2148840"/>
            <a:ext cx="2706624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9631" y="2148840"/>
            <a:ext cx="2706624" cy="91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441448"/>
            <a:ext cx="228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Calibri"/>
              </a:rPr>
              <a:t>В реальном
времени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172968"/>
            <a:ext cx="2286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наличие и размеры, нет сюрпризов на выдаче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2148840"/>
            <a:ext cx="2706624" cy="19659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2148840"/>
            <a:ext cx="2706624" cy="914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4584" y="2441448"/>
            <a:ext cx="228600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CA678"/>
                </a:solidFill>
                <a:latin typeface="Calibri"/>
              </a:rPr>
              <a:t>Аналитика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3172968"/>
            <a:ext cx="2286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топ-товары и расход баллов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109728" cy="14630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424160" cy="1463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E2A3A"/>
                </a:solidFill>
                <a:latin typeface="Calibri"/>
              </a:rPr>
              <a:t>HR избавлен от рутины и сверок, </a:t>
            </a:r>
            <a:r>
              <a:rPr sz="1800" b="1" i="0">
                <a:solidFill>
                  <a:srgbClr val="1E2A3A"/>
                </a:solidFill>
                <a:latin typeface="Calibri"/>
              </a:rPr>
              <a:t>сотрудники сами управляют покупками</a:t>
            </a:r>
            <a:r>
              <a:rPr sz="1800" b="0" i="0">
                <a:solidFill>
                  <a:srgbClr val="1E2A3A"/>
                </a:solidFill>
                <a:latin typeface="Calibri"/>
              </a:rPr>
              <a:t> — прозрачно, быстро и без ошибок.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Технологии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40680" cy="19202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73152" cy="133502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21991"/>
            <a:ext cx="4983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B5BDB"/>
                </a:solidFill>
                <a:latin typeface="Calibri"/>
              </a:rPr>
              <a:t>Интерфейс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43200"/>
            <a:ext cx="4937760" cy="1051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3B5BDB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React + TypeScript (Vite)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3B5BDB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Сайт для сотрудника и 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440680" cy="19202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258568"/>
            <a:ext cx="73152" cy="1335024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221991"/>
            <a:ext cx="4983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A678"/>
                </a:solidFill>
                <a:latin typeface="Calibri"/>
              </a:rPr>
              <a:t>Сервер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743200"/>
            <a:ext cx="4937760" cy="1051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Go — 7 микросервисов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пользователи, товары, корзина,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заказы, склад, медиа, шлюз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440680" cy="19202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361688"/>
            <a:ext cx="73152" cy="133502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325112"/>
            <a:ext cx="4983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B5BDB"/>
                </a:solidFill>
                <a:latin typeface="Calibri"/>
              </a:rPr>
              <a:t>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846320"/>
            <a:ext cx="4937760" cy="1051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3B5BDB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PostgreSQL — база у каждого сервиса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3B5BDB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Redis — кэш корзины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3B5BDB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MinIO — хранилище фото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5440680" cy="192024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361688"/>
            <a:ext cx="73152" cy="1335024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8" y="4325112"/>
            <a:ext cx="4983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A678"/>
                </a:solidFill>
                <a:latin typeface="Calibri"/>
              </a:rPr>
              <a:t>Связь и запуск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846320"/>
            <a:ext cx="4937760" cy="1051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gRPC — между сервисами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Kafka — события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CA678"/>
                </a:solidFill>
                <a:latin typeface="Calibri"/>
              </a:rPr>
              <a:t>—  </a:t>
            </a:r>
            <a:r>
              <a:rPr sz="1250" b="0">
                <a:solidFill>
                  <a:srgbClr val="1E2A3A"/>
                </a:solidFill>
                <a:latin typeface="Calibri"/>
              </a:rPr>
              <a:t>Docker Compose — запуск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2103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411480" cy="6400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A3A"/>
                </a:solidFill>
                <a:latin typeface="Calibri"/>
              </a:rPr>
              <a:t>Микросервисы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Система разбита на независимые части — поломка одной не роняет весь магазин.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874519"/>
            <a:ext cx="3611880" cy="2103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07992" y="2103120"/>
            <a:ext cx="411480" cy="6400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28600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 err="1">
                <a:solidFill>
                  <a:srgbClr val="1E2A3A"/>
                </a:solidFill>
                <a:latin typeface="Calibri"/>
              </a:rPr>
              <a:t>Мгновенный</a:t>
            </a:r>
            <a:r>
              <a:rPr sz="1700" b="1" i="0" dirty="0">
                <a:solidFill>
                  <a:srgbClr val="1E2A3A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E2A3A"/>
                </a:solidFill>
                <a:latin typeface="Calibri"/>
              </a:rPr>
              <a:t>заказ</a:t>
            </a:r>
            <a:endParaRPr sz="1700" b="1" i="0" dirty="0">
              <a:solidFill>
                <a:srgbClr val="1E2A3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7992" y="2834640"/>
            <a:ext cx="315468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Заказ оформляется сразу, склад резервирует товар следом по событию.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611880" cy="2103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38744" y="2103120"/>
            <a:ext cx="411480" cy="6400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8744" y="228600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A3A"/>
                </a:solidFill>
                <a:latin typeface="Calibri"/>
              </a:rPr>
              <a:t>Надёжность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834640"/>
            <a:ext cx="315468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785"/>
                </a:solidFill>
                <a:latin typeface="Calibri"/>
              </a:rPr>
              <a:t>Повтор «Оформить» не спишет баллы дважды, корзина не теряется при сбое кэша.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Путь заказа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2331720" cy="868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23317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Сотрудник
оформляет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45536" y="5312664"/>
            <a:ext cx="338328" cy="219456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38727" y="4983480"/>
            <a:ext cx="2331720" cy="868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7" y="4983480"/>
            <a:ext cx="23317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Событие
«заказ создан»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07024" y="5312664"/>
            <a:ext cx="338328" cy="219456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00215" y="4983480"/>
            <a:ext cx="2331720" cy="868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58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5" y="4983480"/>
            <a:ext cx="23317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Склад
резервирует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68511" y="5312664"/>
            <a:ext cx="338328" cy="219456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61703" y="4983480"/>
            <a:ext cx="2331720" cy="8686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5875">
            <a:solidFill>
              <a:srgbClr val="0CA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3" y="4983480"/>
            <a:ext cx="23317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A"/>
                </a:solidFill>
                <a:latin typeface="Calibri"/>
              </a:rPr>
              <a:t>Статус
«Подтверждён»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538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20624" cy="1097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" y="566928"/>
            <a:ext cx="146304" cy="10972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749808"/>
            <a:ext cx="1060704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A3A"/>
                </a:solidFill>
                <a:latin typeface="Calibri"/>
              </a:rPr>
              <a:t>Планы развития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785"/>
                </a:solidFill>
                <a:latin typeface="Calibri"/>
              </a:rPr>
              <a:t>Куда можно двигать продукт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MerchShop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11880" cy="3840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91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039112"/>
            <a:ext cx="3154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B5BDB"/>
                </a:solidFill>
                <a:latin typeface="Calibri"/>
              </a:rPr>
              <a:t>Ближайшее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2807208"/>
            <a:ext cx="3063240" cy="12801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59" y="3044952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990088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Уведомления о статусе заказа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почта или мессенджер, без захода в магазин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3895344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Избранное и список желаемого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87952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вернуться к товару позже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" y="4745736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690872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Отзывы и рейтинги товаров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38344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помогают сделать выбор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1783080"/>
            <a:ext cx="3611880" cy="3840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1783080"/>
            <a:ext cx="3611880" cy="914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3712" y="2039112"/>
            <a:ext cx="3154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CA678"/>
                </a:solidFill>
                <a:latin typeface="Calibri"/>
              </a:rPr>
              <a:t>Среднесрок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2807208"/>
            <a:ext cx="3063240" cy="12801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53712" y="3044952"/>
            <a:ext cx="146304" cy="146304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1" y="2990088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Расширенные отчёты для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3337560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спрос, остатки, динамика баллов</a:t>
            </a:r>
          </a:p>
        </p:txBody>
      </p:sp>
      <p:sp>
        <p:nvSpPr>
          <p:cNvPr id="31" name="Oval 30"/>
          <p:cNvSpPr/>
          <p:nvPr/>
        </p:nvSpPr>
        <p:spPr>
          <a:xfrm>
            <a:off x="4553712" y="3895344"/>
            <a:ext cx="146304" cy="146304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1" y="384048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Промокоды и сезонные акции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1" y="4187952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гибкое стимулирование сотрудников</a:t>
            </a:r>
          </a:p>
        </p:txBody>
      </p:sp>
      <p:sp>
        <p:nvSpPr>
          <p:cNvPr id="34" name="Oval 33"/>
          <p:cNvSpPr/>
          <p:nvPr/>
        </p:nvSpPr>
        <p:spPr>
          <a:xfrm>
            <a:off x="4553712" y="4745736"/>
            <a:ext cx="146304" cy="146304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1" y="4690872"/>
            <a:ext cx="2834640" cy="2621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1" dirty="0">
                <a:solidFill>
                  <a:srgbClr val="1E2A3A"/>
                </a:solidFill>
                <a:latin typeface="Calibri"/>
              </a:rPr>
              <a:t>Генерация отчета в формате </a:t>
            </a:r>
            <a:r>
              <a:rPr lang="en-US" sz="1350" b="1" dirty="0">
                <a:solidFill>
                  <a:srgbClr val="1E2A3A"/>
                </a:solidFill>
                <a:latin typeface="Calibri"/>
              </a:rPr>
              <a:t>Excel</a:t>
            </a:r>
            <a:endParaRPr lang="ru-RU" sz="1350" b="1" i="0" dirty="0">
              <a:solidFill>
                <a:srgbClr val="1E2A3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28031" y="5038344"/>
            <a:ext cx="28346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0" i="0" dirty="0">
                <a:solidFill>
                  <a:srgbClr val="6B7785"/>
                </a:solidFill>
                <a:latin typeface="Calibri"/>
              </a:rPr>
              <a:t>админ сможет сгенерировать себе отчет</a:t>
            </a:r>
            <a:endParaRPr sz="1050" b="0" i="0" dirty="0">
              <a:solidFill>
                <a:srgbClr val="6B7785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10144" y="1783080"/>
            <a:ext cx="3611880" cy="3840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0144" y="1783080"/>
            <a:ext cx="3611880" cy="91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4464" y="2039112"/>
            <a:ext cx="3154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B5BDB"/>
                </a:solidFill>
                <a:latin typeface="Calibri"/>
              </a:rPr>
              <a:t>Перспектива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2807208"/>
            <a:ext cx="3063240" cy="12801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84464" y="3044952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58784" y="2990088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Вход по корп. аккаунту (SSO)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3337560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без отдельного пароля</a:t>
            </a:r>
          </a:p>
        </p:txBody>
      </p:sp>
      <p:sp>
        <p:nvSpPr>
          <p:cNvPr id="45" name="Oval 44"/>
          <p:cNvSpPr/>
          <p:nvPr/>
        </p:nvSpPr>
        <p:spPr>
          <a:xfrm>
            <a:off x="8284464" y="3895344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58784" y="384048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Мобильное приложение / PWA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8784" y="4187952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магазин в телефоне</a:t>
            </a:r>
          </a:p>
        </p:txBody>
      </p:sp>
      <p:sp>
        <p:nvSpPr>
          <p:cNvPr id="48" name="Oval 47"/>
          <p:cNvSpPr/>
          <p:nvPr/>
        </p:nvSpPr>
        <p:spPr>
          <a:xfrm>
            <a:off x="8284464" y="4745736"/>
            <a:ext cx="146304" cy="146304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58784" y="4690872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A"/>
                </a:solidFill>
                <a:latin typeface="Calibri"/>
              </a:rPr>
              <a:t>Переезд хранилища в облако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8784" y="5038344"/>
            <a:ext cx="2834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785"/>
                </a:solidFill>
                <a:latin typeface="Calibri"/>
              </a:rPr>
              <a:t>код уже S3-совместим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3A"/>
                </a:solidFill>
                <a:latin typeface="Calibri"/>
              </a:rPr>
              <a:t>Архитектура к этому готова: </a:t>
            </a:r>
            <a:r>
              <a:rPr sz="1300" b="0" i="0">
                <a:solidFill>
                  <a:srgbClr val="6B7785"/>
                </a:solidFill>
                <a:latin typeface="Calibri"/>
              </a:rPr>
              <a:t>новые возможности добавляются отдельными сервисами, не трогая существующие.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7815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91440" cy="68580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560320" cy="2560320"/>
          </a:xfrm>
          <a:prstGeom prst="ellipse">
            <a:avLst/>
          </a:prstGeom>
          <a:solidFill>
            <a:srgbClr val="2B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7498079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A3A"/>
                </a:solidFill>
                <a:latin typeface="Calibri"/>
              </a:rPr>
              <a:t>Итог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457200" cy="91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731520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Микросервисный магазин мерча на баллах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Полный путь: каталог → корзина → заказ → выдача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Баллы, склад и статусы — автоматически и прозрачно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Покрыт тестами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Модульные и сквозные тесты по каждому сервису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1">
                <a:solidFill>
                  <a:srgbClr val="1E2A3A"/>
                </a:solidFill>
                <a:latin typeface="Calibri"/>
              </a:rPr>
              <a:t>Запуск одной командой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B5BDB"/>
                </a:solidFill>
                <a:latin typeface="Calibri"/>
              </a:rPr>
              <a:t>—  </a:t>
            </a:r>
            <a:r>
              <a:rPr sz="1500" b="0">
                <a:solidFill>
                  <a:srgbClr val="1E2A3A"/>
                </a:solidFill>
                <a:latin typeface="Calibri"/>
              </a:rPr>
              <a:t>Вся инфраструктура — в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11680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56032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9D7FF"/>
                </a:solidFill>
                <a:latin typeface="Calibri"/>
              </a:rPr>
              <a:t>сервисов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54680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70332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9D7FF"/>
                </a:solidFill>
                <a:latin typeface="Calibri"/>
              </a:rPr>
              <a:t>роли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297680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4632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9D7FF"/>
                </a:solidFill>
                <a:latin typeface="Calibri"/>
              </a:rPr>
              <a:t>статуса заказа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EC3B70-CB15-424D-A378-12DBB5A26FE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fdf946e-ccc9-4bec-96cb-31253857c6d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743</Words>
  <Application>Microsoft Macintosh PowerPoint</Application>
  <PresentationFormat>Широкоэкранный</PresentationFormat>
  <Paragraphs>203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Михаил Прохоров</cp:lastModifiedBy>
  <cp:revision>4</cp:revision>
  <dcterms:created xsi:type="dcterms:W3CDTF">2013-01-27T09:14:16Z</dcterms:created>
  <dcterms:modified xsi:type="dcterms:W3CDTF">2026-06-16T08:21:26Z</dcterms:modified>
  <cp:category/>
</cp:coreProperties>
</file>