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31"/>
  </p:normalViewPr>
  <p:slideViewPr>
    <p:cSldViewPr snapToGrid="0" snapToObjects="1">
      <p:cViewPr>
        <p:scale>
          <a:sx n="134" d="100"/>
          <a:sy n="134" d="100"/>
        </p:scale>
        <p:origin x="-152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Merch Store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0">
                <a:solidFill>
                  <a:srgbClr val="85BBF0"/>
                </a:solidFill>
                <a:latin typeface="Calibri"/>
              </a:rPr>
              <a:t>Итоги этапа планирования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Корпоративный магазин мерча · 15–20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85BBF0"/>
                </a:solidFill>
                <a:latin typeface="Calibri"/>
              </a:rPr>
              <a:t>Автор: mihnpro    ·    Аудитория: PO + команда разработки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Что мы покажем за 15–20 минут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Контекст и проблема:</a:t>
            </a:r>
            <a:r>
              <a:rPr sz="2200">
                <a:solidFill>
                  <a:srgbClr val="222222"/>
                </a:solidFill>
                <a:latin typeface="Calibri"/>
              </a:rPr>
              <a:t> что болит сегодня, зачем магазин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Скоуп и сценарии:</a:t>
            </a:r>
            <a:r>
              <a:rPr sz="2200">
                <a:solidFill>
                  <a:srgbClr val="222222"/>
                </a:solidFill>
                <a:latin typeface="Calibri"/>
              </a:rPr>
              <a:t> что входит в MVP, кто и как им пользуется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Артефакты планирования:</a:t>
            </a:r>
            <a:r>
              <a:rPr sz="2200">
                <a:solidFill>
                  <a:srgbClr val="222222"/>
                </a:solidFill>
                <a:latin typeface="Calibri"/>
              </a:rPr>
              <a:t> что подготовлено и где лежит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Архитектура и потоки:</a:t>
            </a:r>
            <a:r>
              <a:rPr sz="2200">
                <a:solidFill>
                  <a:srgbClr val="222222"/>
                </a:solidFill>
                <a:latin typeface="Calibri"/>
              </a:rPr>
              <a:t> C4-модель, главный поток, sequence-диаграммы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Надёжность и роли:</a:t>
            </a:r>
            <a:r>
              <a:rPr sz="2200">
                <a:solidFill>
                  <a:srgbClr val="222222"/>
                </a:solidFill>
                <a:latin typeface="Calibri"/>
              </a:rPr>
              <a:t> механизмы устойчивости, ролевая модель, данные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Качество и риски:</a:t>
            </a:r>
            <a:r>
              <a:rPr sz="2200">
                <a:solidFill>
                  <a:srgbClr val="222222"/>
                </a:solidFill>
                <a:latin typeface="Calibri"/>
              </a:rPr>
              <a:t> ADR, NFR, верификация, риски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•  Backlog и дальнейшие шаги:</a:t>
            </a:r>
            <a:r>
              <a:rPr sz="2200">
                <a:solidFill>
                  <a:srgbClr val="222222"/>
                </a:solidFill>
                <a:latin typeface="Calibri"/>
              </a:rPr>
              <a:t> что не вошло, что делаем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Сегодня покупка мерча — это переписка с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995" y="1188720"/>
            <a:ext cx="53035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 dirty="0" err="1">
                <a:solidFill>
                  <a:srgbClr val="08427B"/>
                </a:solidFill>
                <a:latin typeface="Calibri"/>
              </a:rPr>
              <a:t>Сегодня</a:t>
            </a:r>
            <a:endParaRPr sz="1800" b="1" dirty="0">
              <a:solidFill>
                <a:srgbClr val="08427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303520" cy="4114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Сотрудник пишет HR в мессенджере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HR вручную сверяется со складом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Уточняется размер — часто его нет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Договариваются о выдаче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Списание баллов фиксируется в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Calibri"/>
              </a:rPr>
              <a:t>Боли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029200" cy="4114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HR теряет часы в неделю на рутину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Excel и склад расходятся → конфликты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Сотрудники не знают, на что тратить баллы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Нет истории и аналитики (топ, средний чек)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Ошибки в списаниях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Цель и ценность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Превратить ручной процесс в самообслуживание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168BD"/>
                </a:solidFill>
                <a:latin typeface="Calibri"/>
              </a:rPr>
              <a:t>Для сотрудника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Каталог + баланс + оформление заказа за ≤ 1 минуты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Прозрачное наличие по размерам, история своих заказов и операций по баллам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168BD"/>
                </a:solidFill>
                <a:latin typeface="Calibri"/>
              </a:rPr>
              <a:t>Для HR / администратора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51560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Готовый список заказов на отгрузку, экспорт в Excel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Управление каталогом, остатками, балансами через одну панель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168BD"/>
                </a:solidFill>
                <a:latin typeface="Calibri"/>
              </a:rPr>
              <a:t>Для компании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Строгий учёт баллов, базовая аналитика (топ товаров, средний чек)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Скоуп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Что строим сейчас и что осознанно вынесли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406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074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Входит в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74920" cy="42519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Каталог: поиск, фильтры, фото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Корзина (постоянная, без авто-очистки)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Оформление заказа с резервом остатков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Регистрация/вход; роли user / admin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История заказов и баланса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Админ-панель: товары, остатки, пользователи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Начисление баллов, экспорт заказов, аналитика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40680" cy="50292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074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Не входит в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074920" cy="42519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Уведомления (email, push, мессенджеры)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Возвраты, сложные корректировки баллов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Промокоды, скидки, акции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Автоматический фулфилмент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Mobile-приложения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SSO / интеграция с HR-системой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Audit-log изменений, 2FA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Пользователи и роли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Две роли, строгие инварианты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30352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53035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user — сотрудник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937760" cy="4114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Регистрация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вход</a:t>
            </a:r>
            <a:r>
              <a:rPr sz="15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смена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пароля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Просмотр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каталога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поиск</a:t>
            </a:r>
            <a:r>
              <a:rPr sz="15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фильтры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Корзина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(add/update/remove/clear)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Оформление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заказа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за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баллы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Свои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заказы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история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баланса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видит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чужие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данные</a:t>
            </a:r>
            <a:endParaRPr sz="150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303520" cy="54864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53035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admin — HR / 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19"/>
            <a:ext cx="4937760" cy="4114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Всё, что может user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Управление каталогом и фото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Управление остатками (с причиной)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Начисление баллов (идемпотентно)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Управление пользователями (роли, блок)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Просмотр всех заказов, экспорт, аналитика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Инвариант: в системе всегда ≥ 1 активный admin. Первый admin создаётся при настройке.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Ключевые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12 укрупнённых групп · 27 UC в источнике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Регистрация и 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Просмотр каталога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Управление корзиной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1460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51460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6060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Оформление заказа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1460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251460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26060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Свои заказы и баланс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51460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2514600"/>
            <a:ext cx="109728" cy="10972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26060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Смена пароля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1168BD"/>
                </a:solidFill>
                <a:latin typeface="Calibri"/>
              </a:rPr>
              <a:t>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374904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384048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Управление каталогом и фото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434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74904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374904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Управление остатками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3434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4904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374904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384048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Начисление баллов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3434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8348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498348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0749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Управление пользователями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57784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98348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498348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0" y="50749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Все заказы, экспорт, отмена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57784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983480"/>
            <a:ext cx="356616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46720" y="4983480"/>
            <a:ext cx="109728" cy="10972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50749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Базовая аналитика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57784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08427B"/>
                </a:solidFill>
                <a:latin typeface="Calibri"/>
              </a:rPr>
              <a:t>admin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Calibri"/>
              </a:rPr>
              <a:t>Артефакты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этапа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планирования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Что подготовлено и где лежит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FINAL_SPEC.md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28016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Бизнес-спецификация: цели, скоуп, роли, сценарии, NFR, приёмка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TDR-0001-MerchStore.md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7452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Технический дизайн: ADR, C4 (L1/L2/L3), sequence, ER, ролевая модель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1064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specification.md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Ранняя техническая спецификация (рабочий черновик)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diagrams.md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06324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Исходники mermaid-диаграмм: 1 архитектура + 8 sequence + state + 5 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service-interactions.txt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5760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Детали межсервисных взаимодействий и сквозных сценариев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service-api-reference.txt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25196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Справочник методов gRPC и ключей идемпотентности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11064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329184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merch-store-usecases.txt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846320"/>
            <a:ext cx="749808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27 UC от регистрации до управления заказами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Calibri"/>
              </a:rPr>
              <a:t>Архитектура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обзор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6 сервисов + инфра, gRPC внутри, REST на входе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188720"/>
            <a:ext cx="2103120" cy="50292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2103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Браузер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38328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API Gateway · JWT · /admin/*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каталог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3172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корзина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заказы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auth, баллы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5528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остатки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834640"/>
            <a:ext cx="178308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29800" y="2834640"/>
            <a:ext cx="1783080" cy="45720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292608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08427B"/>
                </a:solidFill>
                <a:latin typeface="Calibri"/>
              </a:rPr>
              <a:t>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291840"/>
            <a:ext cx="1783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загрузка фото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8427B"/>
                </a:solidFill>
                <a:latin typeface="Calibri"/>
              </a:rPr>
              <a:t>PostgreSQL × 5 (DB per service)    ·    Redis (cache + refresh)    ·    Kafka (order.created)    ·    MinIO (фото)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 Внутри:</a:t>
            </a:r>
            <a:r>
              <a:rPr sz="1400">
                <a:solidFill>
                  <a:srgbClr val="222222"/>
                </a:solidFill>
                <a:latin typeface="Calibri"/>
              </a:rPr>
              <a:t> gRPC + Protobuf, строгий контракт, HTTP/2 mux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 Снаружи:</a:t>
            </a:r>
            <a:r>
              <a:rPr sz="1400">
                <a:solidFill>
                  <a:srgbClr val="222222"/>
                </a:solidFill>
                <a:latin typeface="Calibri"/>
              </a:rPr>
              <a:t> REST через Gateway; маршруты /admin/* — только при role=admin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 Kafka:</a:t>
            </a:r>
            <a:r>
              <a:rPr sz="1400">
                <a:solidFill>
                  <a:srgbClr val="222222"/>
                </a:solidFill>
                <a:latin typeface="Calibri"/>
              </a:rPr>
              <a:t> один топик order.created (3 партиции, RF=2, retention 7 дней) — для асинхронного резерва остатков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 Файлы:</a:t>
            </a:r>
            <a:r>
              <a:rPr sz="1400">
                <a:solidFill>
                  <a:srgbClr val="222222"/>
                </a:solidFill>
                <a:latin typeface="Calibri"/>
              </a:rPr>
              <a:t> фото идут через Media Service в MinIO; браузер с MinIO напрямую не общается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Все сервисы и инфраструктурные компоненты с направлениями вызовов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10 / 28</a:t>
            </a:r>
          </a:p>
        </p:txBody>
      </p:sp>
      <p:pic>
        <p:nvPicPr>
          <p:cNvPr id="7" name="Picture 6" descr="04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41" y="1143000"/>
            <a:ext cx="855061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Источник: docs/diagrams.md §1  ·  Cart → Product/Inventory, Order → Cart/User, Order → Kafka →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C4 Level 1 — System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Границы системы и внешние акторы. Внешних систем в MVP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11 / 28</a:t>
            </a:r>
          </a:p>
        </p:txBody>
      </p:sp>
      <p:pic>
        <p:nvPicPr>
          <p:cNvPr id="7" name="Picture 6" descr="01-c4-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356" y="1143000"/>
            <a:ext cx="4988981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Сотрудник и Администратор — единственные пользователи. Интеграций с HR/CRM/мессенджерами нет.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C4 Level 2 —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Все контейнеры в Kubernetes-кластере с протоколами 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12 / 28</a:t>
            </a:r>
          </a:p>
        </p:txBody>
      </p:sp>
      <p:pic>
        <p:nvPicPr>
          <p:cNvPr id="7" name="Picture 6" descr="02-c4-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63" y="1143000"/>
            <a:ext cx="8553167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gRPC между сервисами  ·  Kafka для order.created  ·  Media → MinIO PutObject  ·  Public-read GET для отображения фото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C4 Level 3 — Components (Order Service)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Внутреннее устройство самого сложного сервиса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13 / 28</a:t>
            </a:r>
          </a:p>
        </p:txBody>
      </p:sp>
      <p:pic>
        <p:nvPicPr>
          <p:cNvPr id="7" name="Picture 6" descr="03-c4-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96" y="1143000"/>
            <a:ext cx="765070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Handler → Orchestrator → клиенты + Repository; Outbox Publisher Worker → Kafka. Authz на входе.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Главный поток — оформление заказа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Choreography saga: Order оркеструет, Inventory подхватывает асинхронно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280160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280160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CreateOrder(address)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user → Gateway →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01368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1801368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1801368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GetCart + GetBalance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01368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Order → Cart, 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22576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322576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322576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2322576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DeductPoints(order_id)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22576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идемпотентно по order_id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43784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43784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843784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2843784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INSERT orders + outbox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43784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одна транзакция в Order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64992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364992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364992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3364992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ClearCart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64992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корзина очищена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86200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886200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3886200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3886200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publish order.created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86200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Outbox worker → Kafka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07408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07408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4407408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71600" y="4407408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консумер резервирует остатки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07408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Inventory: stock + reservation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28616"/>
            <a:ext cx="548640" cy="475488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928616"/>
            <a:ext cx="5486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8720" y="4928616"/>
            <a:ext cx="10424160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4928616"/>
            <a:ext cx="502920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UpdateStatus(confirmed)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928616"/>
            <a:ext cx="521208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Inventory → 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Calibri"/>
              </a:rPr>
              <a:t>Если резерв не удался → Order.UpdateStatus(cancelled) → компенсация: AddPoints + ReleaseReserve.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Повторный клик с тем же order_id → один заказ, одно списание. Kafka недоступна → Outbox дошлёт позже.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Sequence: Оформление заказа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Полный поток с резервированием через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15 / 28</a:t>
            </a:r>
          </a:p>
        </p:txBody>
      </p:sp>
      <p:pic>
        <p:nvPicPr>
          <p:cNvPr id="7" name="Picture 6" descr="06-seq-create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72" y="1143000"/>
            <a:ext cx="7011151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Sync-часть до публикации в Outbox; резерв подхватывается Inventory асинхронно из Kafka.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Sequence: Добавление в корзину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Проверка наличия, снимок цены и имени из каталога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16 / 28</a:t>
            </a:r>
          </a:p>
        </p:txBody>
      </p:sp>
      <p:pic>
        <p:nvPicPr>
          <p:cNvPr id="7" name="Picture 6" descr="05-seq-add-to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804" y="1143000"/>
            <a:ext cx="6966085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При недоступности Redis Cart продолжает работать через PostgreSQL (graceful degradation).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Sequence: Загрузка фото и создание товара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Файл идёт через Media Service — браузер с MinIO напрямую не общается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17 / 28</a:t>
            </a:r>
          </a:p>
        </p:txBody>
      </p:sp>
      <p:pic>
        <p:nvPicPr>
          <p:cNvPr id="7" name="Picture 6" descr="07-seq-photo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38" y="1143000"/>
            <a:ext cx="8113417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gRPC streaming / HTTP multipart  ·  валидация content-type и размера ≤ 5 МБ  ·  PutObject стримом в 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Sequence: Отмена заказа (компенсация)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AddPoints + ReleaseReserve — обе операции идемпотентны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18 / 28</a:t>
            </a:r>
          </a:p>
        </p:txBody>
      </p:sp>
      <p:pic>
        <p:nvPicPr>
          <p:cNvPr id="7" name="Picture 6" descr="08-seq-cancel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94" y="1143000"/>
            <a:ext cx="851530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Допустимость перехода проверяется первой; при ретрае баллы возвращаются один раз благодаря operation_id.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Надёжность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Пять механизмов делают систему устойчивой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19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8686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Outbox-паттерн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698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Событие пишется в outbox в той же транзакции, что и заказ. Воркер досылает в Kafka. Гарантия at-least-once.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137160" cy="8686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Идемпотентность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10698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order_id для DeductPoints / Reserve / Release; operation_id (UUID) для AddPoints / AdjustStock. Уникальные индексы в БД.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37160" cy="8686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Choreography saga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10698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Нет оркестратора. Order ↔ Inventory взаимодействуют через события и UpdateStatus. Компенсации запускаются доменными сервисами.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37160" cy="8686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Graceful degradation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698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Redis недоступен → Cart работает напрямую через PostgreSQL без видимых ошибок пользователю.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137160" cy="8686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Retry + backoff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698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Идемпотентные методы автоматически ретраятся (100/200/400 мс) при transient-ошибках. Таймауты 2 / 5 сек.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Ролевая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Защита в глубину: 3 уровня проверки + 5 инвариантов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Проверка роли на 3 уровнях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1168BD"/>
                </a:solidFill>
                <a:latin typeface="Calibri"/>
              </a:rPr>
              <a:t>1. 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91640"/>
            <a:ext cx="76809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Маршруты /admin/* отклоняются с 403, если в JWT нет role=admin.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1168BD"/>
                </a:solidFill>
                <a:latin typeface="Calibri"/>
              </a:rPr>
              <a:t>2. gRPC-интерсептор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76809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pkg/auth.AdminOnly на каждом admin-методе сервиса — защита от прямых обращений внутри кластера.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1168BD"/>
                </a:solidFill>
                <a:latin typeface="Calibri"/>
              </a:rPr>
              <a:t>3. NetworkPolicy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29000"/>
            <a:ext cx="76809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K8s-политики ограничивают источники трафика; MinIO на запись доступен только Media 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8427B"/>
                </a:solidFill>
                <a:latin typeface="Calibri"/>
              </a:rPr>
              <a:t>Инварианты (RM-1 … RM-5)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1064240" cy="1828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В системе всегда ≥ 1 активный admin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Admin не может заблокировать самого себя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User не может выдать роль; ChangeRole — только admin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Смена роли отзывает все refresh-токены пользователя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User видит только свои заказы, корзину, баланс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DB per service · логические связи по UUID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Сервис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28016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Что хранит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users, points_balance, points_transactions  ·  refresh-токены в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106424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8600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products (name, price, sizes, photo_key, active)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8892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carts + cart_items (PostgreSQL — источник истины)  ·  Redis cache TTL 30 мин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1106424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9184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orders + order_items + outbox  ·  publisher worker → Kafka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79476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stock (product, size, available)  ·  reservations (order_id уникален)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06424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297680"/>
            <a:ext cx="8961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bucket merch-products: фото товаров (запись только из Media Service)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Ключевые правила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972800" cy="8229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Цена и название позиции фиксируются в корзине и заказе (изменения каталога не влияют на исторические заказы)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Корзина не очищается автоматически — живёт до явных действий пользователя; TTL только у кеша в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Архитектурные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10 ADR · что выбрали и почему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gRPC + Protobuf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строгий контракт, бинарка, HTTP/2 mux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Kafka + Outbox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at-least-once без сложных XA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DB per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независимые миграции и масштабирование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Корзина: Postgres + Redis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источник истины — Postgres; Redis для скорости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role=admin в JWT (без admin-service)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089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минус один сервис, проще деплой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Choreography saga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661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оркестратор — оверхед для одного потока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Загрузка фото через Media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браузер не общается с MinIO напрямую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MinIO для MVP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4805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S3 API; миграция в облако без изменения кода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order_id / operation_id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9377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идемпотентность всех денежных операций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NetworkPolicy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394960"/>
            <a:ext cx="6675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сетевая изоляция; MinIO PutObject — только 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NFR /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Производительность, безопасность, масштабируемость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168BD"/>
                </a:solidFill>
                <a:latin typeface="Calibri"/>
              </a:rPr>
              <a:t>Производительность (p95)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Открытие каталога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459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&lt; 500 мс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Просмотр корзины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&lt; 100 мс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Оформление заказа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603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&lt; 2 сек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Карточка товара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175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&lt; 300 мс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Kafka consumer 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747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&lt; 1 сек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168BD"/>
                </a:solidFill>
                <a:latin typeface="Calibri"/>
              </a:rPr>
              <a:t>Безопасность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6459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Пароли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6459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bcrypt cost=12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Access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1031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TTL 15 мин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5603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25603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Refresh JWT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603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TTL 30 дней в 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0175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Rate-limiter 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0175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5 попыток → блок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474720"/>
            <a:ext cx="548640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4747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Загрузка фото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474720"/>
            <a:ext cx="201168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≤ 5 МБ, JPG/PNG/WEBP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168BD"/>
                </a:solidFill>
                <a:latin typeface="Calibri"/>
              </a:rPr>
              <a:t>Масштабирование (HPA)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Gateway / Order: 2 → 8 реплик (CPU 70% / mem 80%)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Product / Cart / Inventory: 2 → 6 реплик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User / Media: 2 → 4 реплик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Шардирование БД не требуется в MVP — объём данных малый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Риски и митигации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Что может пойти не так и как защищаемся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R-1 Эксплуатационная сложность 6 сервисов + инфра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Стандартизация: общие Helm-чарты, pkg/grpc, единые метрики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21408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R-2 At-least-once → нужна идемпотентность везде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Unit-тесты «вызвал дважды — эффект один», обязательный review-чек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62656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R-3 Choreography → компенсации размазаны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28416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Алерт «order в pending &gt; 5 мин», ручная отмена через админку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03904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803904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R-4 Outbox 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4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Метрика outbox_unsent + алерт &gt; 10 мин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45152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45152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R-5 Нет audit_log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10912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Структурированные логи в Loki с user_id / order_id / operation_id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3716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R-6 Заказ висит в pending при сбое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52160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Митигация: Алерт по статусу + ручная отмена; в будущем — TTL pending в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Как будем убеждаться, что решение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114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Unit-тесты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Оркестрация Order: GetCart → GetBalance → DeductPoints → INSERT → ClearCart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Идемпотентность DeductPoints / AddPoints / AdjustStock / Reserve / Release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Допустимые и запрещённые переходы статусов заказа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Валидации: уникальность логина, формат пароля, лимиты сумм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86400" cy="4114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Полный путь user: регистрация → каталог → корзина → заказ → статус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Полный путь admin: фото → товар → остаток → баллы → отмена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Повторный CreateOrder с тем же order_id → один заказ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Сбой Redis / Kafka → graceful поведение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100 RPS на каталог (p95 &lt; 500 мс)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50 RPS на корзину (p95 &lt; 100 мс)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20 RPS на оформление (p95 &lt; 2 сек)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Стабильность 30 мин, lag Kafka &lt; 1 сек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486400" cy="41148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Безопасность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Подделанный JWT → 401; user → /admin/* → 403 на 2 уровнях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5 неудачных логинов → блок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Media.UploadPhoto без role=admin → 403; &gt; 5 МБ → 400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Прямое обращение к MinIO PutObject вне Media → отказ NetworkPolicy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Что осознанно вынесено за пределы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114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Продукт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Уведомления (email, push, мессенджеры)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Возвраты и сложные корректировки баллов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Промокоды, скидки, акции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Mobile-приложения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Автоматический фулфилмент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86400" cy="4114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Интеграции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SSO / интеграция с HR-системой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Корпоративный каталог сотрудников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Аналитика во внешние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Безопасность и роли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Иерархия admin / super-admin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Временные роли с истечением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2FA для администраторов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Полный audit-log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486400" cy="41148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303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Событийная модель (Kafka)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5120640" cy="1920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order.cancelled — вынести компенсацию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order.status_changed — для будущих уведомлений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points.granted / .deducted — для аналитики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product.* — для поиска и кеша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Дальнейшие шаги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>
                <a:solidFill>
                  <a:srgbClr val="85BBF0"/>
                </a:solidFill>
                <a:latin typeface="Calibri"/>
              </a:rPr>
              <a:t>От согласования к коду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"/>
            <a:ext cx="9144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>
                <a:solidFill>
                  <a:srgbClr val="85BBF0"/>
                </a:solidFill>
                <a:latin typeface="Calibri"/>
              </a:rPr>
              <a:t>27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Ревью TDR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8016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Асинхронный CR (≥ 3 × «CR: OK»), очная защита по необходимости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2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Декомпозиция задач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87452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Разбить 5 этапов разработки на тикеты с оценками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6888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Подготовка инфры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46888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docker-compose локально, базовые Helm-чарты, namespace merch-stage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6324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Этап 1: User + Product +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Регистрация, вход, каталог — первый work-end-to-end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Этап 2: Cart +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65760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Корзина с проверкой остатков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5196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Этап 3: Order + Kafka + Outbox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25196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Главный поток оформления заказа с резервированием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Этап 4: Media + MinIO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84632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Загрузка фото через Media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40680"/>
            <a:ext cx="4389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08427B"/>
                </a:solidFill>
                <a:latin typeface="Calibri"/>
              </a:rPr>
              <a:t>Этап 5: Admin-методы, экспорт, аналитика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440680"/>
            <a:ext cx="61264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Полный admin-флоу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Merch Store MVP · Итоги планирования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85B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Вопросы?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0">
                <a:solidFill>
                  <a:srgbClr val="85BBF0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dirty="0" err="1">
                <a:solidFill>
                  <a:srgbClr val="85BBF0"/>
                </a:solidFill>
                <a:latin typeface="Calibri"/>
              </a:rPr>
              <a:t>Все</a:t>
            </a:r>
            <a:r>
              <a:rPr sz="1400" b="0" dirty="0">
                <a:solidFill>
                  <a:srgbClr val="85BBF0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85BBF0"/>
                </a:solidFill>
                <a:latin typeface="Calibri"/>
              </a:rPr>
              <a:t>артефакты</a:t>
            </a:r>
            <a:r>
              <a:rPr sz="1400" b="0" dirty="0">
                <a:solidFill>
                  <a:srgbClr val="85BBF0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85BBF0"/>
                </a:solidFill>
                <a:latin typeface="Calibri"/>
              </a:rPr>
              <a:t>планирования</a:t>
            </a:r>
            <a:r>
              <a:rPr sz="1400" b="0" dirty="0">
                <a:solidFill>
                  <a:srgbClr val="85BBF0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85BBF0"/>
                </a:solidFill>
                <a:latin typeface="Calibri"/>
              </a:rPr>
              <a:t>в</a:t>
            </a:r>
            <a:r>
              <a:rPr sz="1400" b="0" dirty="0">
                <a:solidFill>
                  <a:srgbClr val="85BBF0"/>
                </a:solidFill>
                <a:latin typeface="Calibri"/>
              </a:rPr>
              <a:t> 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2558</Words>
  <Application>Microsoft Macintosh PowerPoint</Application>
  <PresentationFormat>Широкоэкранный</PresentationFormat>
  <Paragraphs>423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Михаил Прохоров</cp:lastModifiedBy>
  <cp:revision>2</cp:revision>
  <dcterms:created xsi:type="dcterms:W3CDTF">2013-01-27T09:14:16Z</dcterms:created>
  <dcterms:modified xsi:type="dcterms:W3CDTF">2026-05-29T11:45:42Z</dcterms:modified>
  <cp:category/>
</cp:coreProperties>
</file>